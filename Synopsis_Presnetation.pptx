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3640" r:id="rId2"/>
    <p:sldId id="3707" r:id="rId3"/>
    <p:sldId id="3714" r:id="rId4"/>
    <p:sldId id="3708" r:id="rId5"/>
    <p:sldId id="3701" r:id="rId6"/>
    <p:sldId id="3697" r:id="rId7"/>
    <p:sldId id="3711" r:id="rId8"/>
    <p:sldId id="3709" r:id="rId9"/>
    <p:sldId id="3700" r:id="rId10"/>
    <p:sldId id="3706" r:id="rId11"/>
    <p:sldId id="3641"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ukeshi Parnami" initials="SP" lastIdx="1" clrIdx="0">
    <p:extLst>
      <p:ext uri="{19B8F6BF-5375-455C-9EA6-DF929625EA0E}">
        <p15:presenceInfo xmlns:p15="http://schemas.microsoft.com/office/powerpoint/2012/main" userId="S::sparnami@upes.ac.in::61686955-4e93-4ddb-a545-ba82f91d1f9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E36FF"/>
    <a:srgbClr val="4AAEFC"/>
    <a:srgbClr val="434ACF"/>
    <a:srgbClr val="BF2CFE"/>
    <a:srgbClr val="46B0FA"/>
    <a:srgbClr val="27D4F8"/>
    <a:srgbClr val="D9FF00"/>
    <a:srgbClr val="E0E600"/>
    <a:srgbClr val="0B2F3E"/>
    <a:srgbClr val="B1B1B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413" autoAdjust="0"/>
    <p:restoredTop sz="96327"/>
  </p:normalViewPr>
  <p:slideViewPr>
    <p:cSldViewPr snapToGrid="0" snapToObjects="1">
      <p:cViewPr varScale="1">
        <p:scale>
          <a:sx n="46" d="100"/>
          <a:sy n="46" d="100"/>
        </p:scale>
        <p:origin x="58" y="840"/>
      </p:cViewPr>
      <p:guideLst>
        <p:guide orient="horz" pos="2160"/>
        <p:guide pos="3840"/>
      </p:guideLst>
    </p:cSldViewPr>
  </p:slideViewPr>
  <p:notesTextViewPr>
    <p:cViewPr>
      <p:scale>
        <a:sx n="1" d="1"/>
        <a:sy n="1" d="1"/>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3E9D15D-1C13-CC45-BE09-4D54E9A973B4}" type="datetimeFigureOut">
              <a:rPr lang="en-US" smtClean="0"/>
              <a:t>3/11/2026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493A8CF-95A7-924D-878B-183116A25DFA}" type="slidenum">
              <a:rPr lang="en-US" smtClean="0"/>
              <a:t>‹#›</a:t>
            </a:fld>
            <a:endParaRPr lang="en-US" dirty="0"/>
          </a:p>
        </p:txBody>
      </p:sp>
    </p:spTree>
    <p:extLst>
      <p:ext uri="{BB962C8B-B14F-4D97-AF65-F5344CB8AC3E}">
        <p14:creationId xmlns:p14="http://schemas.microsoft.com/office/powerpoint/2010/main" val="39239621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C73FB-2D72-9945-BF45-5347690BBEBB}"/>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6D93C615-989D-9D44-8501-FCE01FCEDC63}"/>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DA9E5F24-53F9-054C-A9F8-3DCFACAB9877}"/>
              </a:ext>
            </a:extLst>
          </p:cNvPr>
          <p:cNvSpPr>
            <a:spLocks noGrp="1"/>
          </p:cNvSpPr>
          <p:nvPr>
            <p:ph type="dt" sz="half" idx="10"/>
          </p:nvPr>
        </p:nvSpPr>
        <p:spPr>
          <a:xfrm>
            <a:off x="838200" y="6356350"/>
            <a:ext cx="2743200" cy="365125"/>
          </a:xfrm>
          <a:prstGeom prst="rect">
            <a:avLst/>
          </a:prstGeom>
        </p:spPr>
        <p:txBody>
          <a:bodyPr/>
          <a:lstStyle/>
          <a:p>
            <a:fld id="{FD3D9895-3AFC-9E49-BB6B-D5AF81433D95}" type="datetimeFigureOut">
              <a:rPr lang="en-US" smtClean="0"/>
              <a:t>3/11/2026</a:t>
            </a:fld>
            <a:endParaRPr lang="en-US" dirty="0"/>
          </a:p>
        </p:txBody>
      </p:sp>
      <p:sp>
        <p:nvSpPr>
          <p:cNvPr id="5" name="Footer Placeholder 4">
            <a:extLst>
              <a:ext uri="{FF2B5EF4-FFF2-40B4-BE49-F238E27FC236}">
                <a16:creationId xmlns:a16="http://schemas.microsoft.com/office/drawing/2014/main" id="{69BE7FB8-C70E-584A-A086-8852BD639520}"/>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6" name="Slide Number Placeholder 5">
            <a:extLst>
              <a:ext uri="{FF2B5EF4-FFF2-40B4-BE49-F238E27FC236}">
                <a16:creationId xmlns:a16="http://schemas.microsoft.com/office/drawing/2014/main" id="{E755C156-1A78-7A4C-AB86-BCA1B1785D83}"/>
              </a:ext>
            </a:extLst>
          </p:cNvPr>
          <p:cNvSpPr>
            <a:spLocks noGrp="1"/>
          </p:cNvSpPr>
          <p:nvPr>
            <p:ph type="sldNum" sz="quarter" idx="12"/>
          </p:nvPr>
        </p:nvSpPr>
        <p:spPr>
          <a:xfrm>
            <a:off x="8610600" y="6356350"/>
            <a:ext cx="2743200" cy="365125"/>
          </a:xfrm>
          <a:prstGeom prst="rect">
            <a:avLst/>
          </a:prstGeom>
        </p:spPr>
        <p:txBody>
          <a:bodyPr/>
          <a:lstStyle/>
          <a:p>
            <a:fld id="{CF45BD75-B1E6-DE4E-8CD3-58B4BE092B5A}" type="slidenum">
              <a:rPr lang="en-US" smtClean="0"/>
              <a:t>‹#›</a:t>
            </a:fld>
            <a:endParaRPr lang="en-US" dirty="0"/>
          </a:p>
        </p:txBody>
      </p:sp>
    </p:spTree>
    <p:extLst>
      <p:ext uri="{BB962C8B-B14F-4D97-AF65-F5344CB8AC3E}">
        <p14:creationId xmlns:p14="http://schemas.microsoft.com/office/powerpoint/2010/main" val="7777136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34842408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1703F520-AAB7-4D20-958E-A456239933B0}" type="datetimeFigureOut">
              <a:rPr lang="en-US" smtClean="0"/>
              <a:t>3/11/2026</a:t>
            </a:fld>
            <a:endParaRPr lang="en-US" dirty="0"/>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CD3316BF-8A16-4F24-9F8F-9D40354D5A5C}" type="slidenum">
              <a:rPr lang="en-US" smtClean="0"/>
              <a:t>‹#›</a:t>
            </a:fld>
            <a:endParaRPr lang="en-US" dirty="0"/>
          </a:p>
        </p:txBody>
      </p:sp>
    </p:spTree>
    <p:extLst>
      <p:ext uri="{BB962C8B-B14F-4D97-AF65-F5344CB8AC3E}">
        <p14:creationId xmlns:p14="http://schemas.microsoft.com/office/powerpoint/2010/main" val="273734048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jp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92C0DC26-5D78-6140-BF89-41378C4365C1}"/>
              </a:ext>
            </a:extLst>
          </p:cNvPr>
          <p:cNvSpPr/>
          <p:nvPr userDrawn="1"/>
        </p:nvSpPr>
        <p:spPr>
          <a:xfrm>
            <a:off x="98853" y="86497"/>
            <a:ext cx="11998411" cy="6685005"/>
          </a:xfrm>
          <a:prstGeom prst="rect">
            <a:avLst/>
          </a:prstGeom>
          <a:noFill/>
          <a:ln w="28575">
            <a:solidFill>
              <a:srgbClr val="46B0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descr="A picture containing text, clipart&#10;&#10;Description automatically generated">
            <a:extLst>
              <a:ext uri="{FF2B5EF4-FFF2-40B4-BE49-F238E27FC236}">
                <a16:creationId xmlns:a16="http://schemas.microsoft.com/office/drawing/2014/main" id="{C5EF86C0-A360-484B-B595-7CC69137B538}"/>
              </a:ext>
            </a:extLst>
          </p:cNvPr>
          <p:cNvPicPr>
            <a:picLocks noChangeAspect="1"/>
          </p:cNvPicPr>
          <p:nvPr userDrawn="1"/>
        </p:nvPicPr>
        <p:blipFill rotWithShape="1">
          <a:blip r:embed="rId5"/>
          <a:srcRect t="12813" r="7454"/>
          <a:stretch/>
        </p:blipFill>
        <p:spPr>
          <a:xfrm>
            <a:off x="10718090" y="127821"/>
            <a:ext cx="1336257" cy="540774"/>
          </a:xfrm>
          <a:prstGeom prst="rect">
            <a:avLst/>
          </a:prstGeom>
        </p:spPr>
      </p:pic>
    </p:spTree>
    <p:extLst>
      <p:ext uri="{BB962C8B-B14F-4D97-AF65-F5344CB8AC3E}">
        <p14:creationId xmlns:p14="http://schemas.microsoft.com/office/powerpoint/2010/main" val="20384648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E8895C2-828B-934B-8B58-BBC23AD3665A}"/>
              </a:ext>
            </a:extLst>
          </p:cNvPr>
          <p:cNvSpPr/>
          <p:nvPr/>
        </p:nvSpPr>
        <p:spPr>
          <a:xfrm>
            <a:off x="10668000" y="150471"/>
            <a:ext cx="1381246" cy="6829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7" descr="A picture containing text, sign, outdoor&#10;&#10;Description automatically generated">
            <a:extLst>
              <a:ext uri="{FF2B5EF4-FFF2-40B4-BE49-F238E27FC236}">
                <a16:creationId xmlns:a16="http://schemas.microsoft.com/office/drawing/2014/main" id="{35C12C04-5CEF-8448-B70C-56FE6AD03CE5}"/>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86167" y="247406"/>
            <a:ext cx="876170" cy="1491678"/>
          </a:xfrm>
          <a:prstGeom prst="rect">
            <a:avLst/>
          </a:prstGeom>
        </p:spPr>
      </p:pic>
      <p:pic>
        <p:nvPicPr>
          <p:cNvPr id="5" name="Picture 4" descr="A picture containing text, clipart&#10;&#10;Description automatically generated">
            <a:extLst>
              <a:ext uri="{FF2B5EF4-FFF2-40B4-BE49-F238E27FC236}">
                <a16:creationId xmlns:a16="http://schemas.microsoft.com/office/drawing/2014/main" id="{2F2F3CE5-A64B-4B6C-9275-01E87181FAAF}"/>
              </a:ext>
            </a:extLst>
          </p:cNvPr>
          <p:cNvPicPr>
            <a:picLocks noChangeAspect="1"/>
          </p:cNvPicPr>
          <p:nvPr/>
        </p:nvPicPr>
        <p:blipFill>
          <a:blip r:embed="rId3"/>
          <a:stretch>
            <a:fillRect/>
          </a:stretch>
        </p:blipFill>
        <p:spPr>
          <a:xfrm>
            <a:off x="7485017" y="143688"/>
            <a:ext cx="4564228" cy="1474098"/>
          </a:xfrm>
          <a:prstGeom prst="rect">
            <a:avLst/>
          </a:prstGeom>
        </p:spPr>
      </p:pic>
      <p:sp>
        <p:nvSpPr>
          <p:cNvPr id="2" name="TextBox 1"/>
          <p:cNvSpPr txBox="1"/>
          <p:nvPr/>
        </p:nvSpPr>
        <p:spPr>
          <a:xfrm>
            <a:off x="3574854" y="1724549"/>
            <a:ext cx="5042292" cy="923330"/>
          </a:xfrm>
          <a:prstGeom prst="rect">
            <a:avLst/>
          </a:prstGeom>
          <a:noFill/>
        </p:spPr>
        <p:txBody>
          <a:bodyPr wrap="square" rtlCol="0">
            <a:spAutoFit/>
          </a:bodyPr>
          <a:lstStyle/>
          <a:p>
            <a:r>
              <a:rPr lang="en-IN" sz="5400" dirty="0"/>
              <a:t>Major Project - II</a:t>
            </a:r>
          </a:p>
        </p:txBody>
      </p:sp>
      <p:sp>
        <p:nvSpPr>
          <p:cNvPr id="4" name="TextBox 3"/>
          <p:cNvSpPr txBox="1"/>
          <p:nvPr/>
        </p:nvSpPr>
        <p:spPr>
          <a:xfrm>
            <a:off x="1121722" y="2943578"/>
            <a:ext cx="9948555" cy="1077218"/>
          </a:xfrm>
          <a:prstGeom prst="rect">
            <a:avLst/>
          </a:prstGeom>
          <a:noFill/>
        </p:spPr>
        <p:txBody>
          <a:bodyPr wrap="square" rtlCol="0">
            <a:spAutoFit/>
          </a:bodyPr>
          <a:lstStyle/>
          <a:p>
            <a:pPr algn="ctr"/>
            <a:r>
              <a:rPr lang="en-IN" sz="3200" dirty="0">
                <a:latin typeface="Times New Roman" panose="02020603050405020304" pitchFamily="18" charset="0"/>
                <a:cs typeface="Times New Roman" panose="02020603050405020304" pitchFamily="18" charset="0"/>
              </a:rPr>
              <a:t>Title: </a:t>
            </a:r>
            <a:r>
              <a:rPr lang="en-US" sz="3200" dirty="0" err="1">
                <a:latin typeface="Times New Roman" panose="02020603050405020304" pitchFamily="18" charset="0"/>
                <a:cs typeface="Times New Roman" panose="02020603050405020304" pitchFamily="18" charset="0"/>
              </a:rPr>
              <a:t>PedestriGuard</a:t>
            </a:r>
            <a:r>
              <a:rPr lang="en-US" sz="3200" dirty="0">
                <a:latin typeface="Times New Roman" panose="02020603050405020304" pitchFamily="18" charset="0"/>
                <a:cs typeface="Times New Roman" panose="02020603050405020304" pitchFamily="18" charset="0"/>
              </a:rPr>
              <a:t> AI – Intelligent Pedestrian Detection and Behavior Analysis System</a:t>
            </a:r>
            <a:endParaRPr lang="en-IN" sz="3200" dirty="0">
              <a:latin typeface="Times New Roman" panose="02020603050405020304" pitchFamily="18" charset="0"/>
              <a:cs typeface="Times New Roman" panose="02020603050405020304" pitchFamily="18" charset="0"/>
            </a:endParaRPr>
          </a:p>
        </p:txBody>
      </p:sp>
      <p:sp>
        <p:nvSpPr>
          <p:cNvPr id="6" name="TextBox 5"/>
          <p:cNvSpPr txBox="1"/>
          <p:nvPr/>
        </p:nvSpPr>
        <p:spPr>
          <a:xfrm>
            <a:off x="304829" y="5003074"/>
            <a:ext cx="3918036" cy="1754326"/>
          </a:xfrm>
          <a:prstGeom prst="rect">
            <a:avLst/>
          </a:prstGeom>
          <a:noFill/>
        </p:spPr>
        <p:txBody>
          <a:bodyPr wrap="square" rtlCol="0">
            <a:spAutoFit/>
          </a:bodyPr>
          <a:lstStyle/>
          <a:p>
            <a:r>
              <a:rPr lang="en-IN" dirty="0"/>
              <a:t>Presented by:</a:t>
            </a:r>
          </a:p>
          <a:p>
            <a:r>
              <a:rPr lang="en-IN" dirty="0"/>
              <a:t>R2142221543  - ANSHUMAN AGARWAL</a:t>
            </a:r>
          </a:p>
          <a:p>
            <a:r>
              <a:rPr lang="en-IN" dirty="0"/>
              <a:t>R2142221275  - ADIT JAIN</a:t>
            </a:r>
          </a:p>
          <a:p>
            <a:r>
              <a:rPr lang="en-IN" dirty="0"/>
              <a:t>R2142220747  - PARITOSH DHINGRA</a:t>
            </a:r>
          </a:p>
          <a:p>
            <a:r>
              <a:rPr lang="en-IN" dirty="0"/>
              <a:t>R2142221075  - MUKESH SIHAG</a:t>
            </a:r>
          </a:p>
          <a:p>
            <a:endParaRPr lang="en-IN" dirty="0"/>
          </a:p>
        </p:txBody>
      </p:sp>
      <p:sp>
        <p:nvSpPr>
          <p:cNvPr id="9" name="TextBox 8"/>
          <p:cNvSpPr txBox="1"/>
          <p:nvPr/>
        </p:nvSpPr>
        <p:spPr>
          <a:xfrm>
            <a:off x="8882743" y="5003074"/>
            <a:ext cx="2717074" cy="646331"/>
          </a:xfrm>
          <a:prstGeom prst="rect">
            <a:avLst/>
          </a:prstGeom>
          <a:noFill/>
        </p:spPr>
        <p:txBody>
          <a:bodyPr wrap="square" rtlCol="0">
            <a:spAutoFit/>
          </a:bodyPr>
          <a:lstStyle/>
          <a:p>
            <a:r>
              <a:rPr lang="en-IN" dirty="0"/>
              <a:t>Mentored By : </a:t>
            </a:r>
          </a:p>
          <a:p>
            <a:r>
              <a:rPr lang="en-IN" dirty="0"/>
              <a:t>M/s Vinamrata Rani</a:t>
            </a:r>
          </a:p>
        </p:txBody>
      </p:sp>
    </p:spTree>
    <p:extLst>
      <p:ext uri="{BB962C8B-B14F-4D97-AF65-F5344CB8AC3E}">
        <p14:creationId xmlns:p14="http://schemas.microsoft.com/office/powerpoint/2010/main" val="16277998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E52040-48B3-21B9-2E31-DF05C6DFD79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34DA23F-A13C-F4BF-37A4-9F369D139C7E}"/>
              </a:ext>
            </a:extLst>
          </p:cNvPr>
          <p:cNvSpPr txBox="1"/>
          <p:nvPr/>
        </p:nvSpPr>
        <p:spPr>
          <a:xfrm>
            <a:off x="325927" y="222500"/>
            <a:ext cx="7530363" cy="584775"/>
          </a:xfrm>
          <a:prstGeom prst="rect">
            <a:avLst/>
          </a:prstGeom>
          <a:noFill/>
        </p:spPr>
        <p:txBody>
          <a:bodyPr wrap="square" rtlCol="0">
            <a:spAutoFit/>
          </a:bodyPr>
          <a:lstStyle/>
          <a:p>
            <a:r>
              <a:rPr lang="en-US" sz="3200" b="1" dirty="0">
                <a:solidFill>
                  <a:srgbClr val="46B0FA"/>
                </a:solidFill>
                <a:latin typeface="Arial" panose="020B0604020202020204" pitchFamily="34" charset="0"/>
                <a:cs typeface="Arial" panose="020B0604020202020204" pitchFamily="34" charset="0"/>
              </a:rPr>
              <a:t>Introduction</a:t>
            </a:r>
            <a:endParaRPr lang="en-IN" sz="3200" b="1" dirty="0">
              <a:solidFill>
                <a:srgbClr val="46B0FA"/>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3728F760-C35E-AA5E-A0B8-45704A5063FC}"/>
              </a:ext>
            </a:extLst>
          </p:cNvPr>
          <p:cNvSpPr txBox="1"/>
          <p:nvPr/>
        </p:nvSpPr>
        <p:spPr>
          <a:xfrm>
            <a:off x="883598" y="1335847"/>
            <a:ext cx="9901002" cy="1138773"/>
          </a:xfrm>
          <a:prstGeom prst="rect">
            <a:avLst/>
          </a:prstGeom>
          <a:noFill/>
        </p:spPr>
        <p:txBody>
          <a:bodyPr wrap="square" rtlCol="0">
            <a:spAutoFit/>
          </a:bodyPr>
          <a:lstStyle/>
          <a:p>
            <a:r>
              <a:rPr lang="en-US" sz="2800" u="sng" dirty="0">
                <a:solidFill>
                  <a:srgbClr val="FF0000"/>
                </a:solidFill>
                <a:latin typeface="Times New Roman" panose="02020603050405020304" pitchFamily="18" charset="0"/>
                <a:cs typeface="Times New Roman" panose="02020603050405020304" pitchFamily="18" charset="0"/>
              </a:rPr>
              <a:t>Introduction:</a:t>
            </a: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09778BE8-8063-09ED-B5D2-4DCB51F1097C}"/>
              </a:ext>
            </a:extLst>
          </p:cNvPr>
          <p:cNvSpPr txBox="1"/>
          <p:nvPr/>
        </p:nvSpPr>
        <p:spPr>
          <a:xfrm>
            <a:off x="855605" y="2190867"/>
            <a:ext cx="10424804" cy="3076291"/>
          </a:xfrm>
          <a:prstGeom prst="rect">
            <a:avLst/>
          </a:prstGeom>
          <a:noFill/>
        </p:spPr>
        <p:txBody>
          <a:bodyPr wrap="square">
            <a:spAutoFit/>
          </a:bodyPr>
          <a:lstStyle/>
          <a:p>
            <a:pPr marL="285750" indent="-285750">
              <a:lnSpc>
                <a:spcPct val="20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Rapid urbanization has increased the need for intelligent pedestrian monitoring systems.</a:t>
            </a:r>
          </a:p>
          <a:p>
            <a:pPr marL="285750" indent="-285750">
              <a:lnSpc>
                <a:spcPct val="20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Traditional systems focus only on basic detection and lack behavioral understanding.</a:t>
            </a:r>
          </a:p>
          <a:p>
            <a:pPr marL="285750" indent="-285750">
              <a:lnSpc>
                <a:spcPct val="20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Real-world environments involve crowd density, occlusion, and dynamic movement.</a:t>
            </a:r>
          </a:p>
          <a:p>
            <a:pPr marL="285750" indent="-285750">
              <a:lnSpc>
                <a:spcPct val="20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There is a need for a smart system that can detect, track, and analyze pedestrians in real time.</a:t>
            </a:r>
          </a:p>
          <a:p>
            <a:pPr marL="285750" indent="-285750">
              <a:lnSpc>
                <a:spcPct val="200000"/>
              </a:lnSpc>
              <a:buFont typeface="Arial" panose="020B0604020202020204" pitchFamily="34" charset="0"/>
              <a:buChar char="•"/>
            </a:pPr>
            <a:r>
              <a:rPr lang="en-US" sz="2000" dirty="0" err="1">
                <a:latin typeface="Times New Roman" panose="02020603050405020304" pitchFamily="18" charset="0"/>
                <a:cs typeface="Times New Roman" panose="02020603050405020304" pitchFamily="18" charset="0"/>
              </a:rPr>
              <a:t>PedestriGuard</a:t>
            </a:r>
            <a:r>
              <a:rPr lang="en-US" sz="2000" dirty="0">
                <a:latin typeface="Times New Roman" panose="02020603050405020304" pitchFamily="18" charset="0"/>
                <a:cs typeface="Times New Roman" panose="02020603050405020304" pitchFamily="18" charset="0"/>
              </a:rPr>
              <a:t> AI aims to provide a unified solution for safer and smarter urban ecosystems.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230832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3B2E75-B627-7D39-B068-4D4B3596BEE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3B4922-B89B-4817-8100-74F2E702F778}"/>
              </a:ext>
            </a:extLst>
          </p:cNvPr>
          <p:cNvSpPr txBox="1"/>
          <p:nvPr/>
        </p:nvSpPr>
        <p:spPr>
          <a:xfrm>
            <a:off x="325927" y="222500"/>
            <a:ext cx="7530363" cy="584775"/>
          </a:xfrm>
          <a:prstGeom prst="rect">
            <a:avLst/>
          </a:prstGeom>
          <a:noFill/>
        </p:spPr>
        <p:txBody>
          <a:bodyPr wrap="square" rtlCol="0">
            <a:spAutoFit/>
          </a:bodyPr>
          <a:lstStyle/>
          <a:p>
            <a:r>
              <a:rPr lang="en-US" sz="3200" b="1" dirty="0">
                <a:solidFill>
                  <a:srgbClr val="46B0FA"/>
                </a:solidFill>
                <a:latin typeface="Arial" panose="020B0604020202020204" pitchFamily="34" charset="0"/>
                <a:cs typeface="Arial" panose="020B0604020202020204" pitchFamily="34" charset="0"/>
              </a:rPr>
              <a:t>Introduction</a:t>
            </a:r>
            <a:endParaRPr lang="en-IN" sz="3200" b="1" dirty="0">
              <a:solidFill>
                <a:srgbClr val="46B0FA"/>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DBE6B18E-FF79-4B65-D64A-C447B8D768CC}"/>
              </a:ext>
            </a:extLst>
          </p:cNvPr>
          <p:cNvSpPr txBox="1"/>
          <p:nvPr/>
        </p:nvSpPr>
        <p:spPr>
          <a:xfrm>
            <a:off x="1145499" y="1244173"/>
            <a:ext cx="9901002" cy="523220"/>
          </a:xfrm>
          <a:prstGeom prst="rect">
            <a:avLst/>
          </a:prstGeom>
          <a:noFill/>
        </p:spPr>
        <p:txBody>
          <a:bodyPr wrap="square" rtlCol="0">
            <a:spAutoFit/>
          </a:bodyPr>
          <a:lstStyle/>
          <a:p>
            <a:r>
              <a:rPr lang="en-US" sz="2800" u="sng" dirty="0">
                <a:solidFill>
                  <a:srgbClr val="FF0000"/>
                </a:solidFill>
                <a:latin typeface="Times New Roman" panose="02020603050405020304" pitchFamily="18" charset="0"/>
                <a:cs typeface="Times New Roman" panose="02020603050405020304" pitchFamily="18" charset="0"/>
              </a:rPr>
              <a:t>Motivation:</a:t>
            </a:r>
          </a:p>
        </p:txBody>
      </p:sp>
      <p:sp>
        <p:nvSpPr>
          <p:cNvPr id="4" name="Rectangle 1">
            <a:extLst>
              <a:ext uri="{FF2B5EF4-FFF2-40B4-BE49-F238E27FC236}">
                <a16:creationId xmlns:a16="http://schemas.microsoft.com/office/drawing/2014/main" id="{E118713C-6972-CFBD-DCFF-ABA70D66470E}"/>
              </a:ext>
            </a:extLst>
          </p:cNvPr>
          <p:cNvSpPr>
            <a:spLocks noChangeArrowheads="1"/>
          </p:cNvSpPr>
          <p:nvPr/>
        </p:nvSpPr>
        <p:spPr bwMode="auto">
          <a:xfrm>
            <a:off x="1231641" y="2014317"/>
            <a:ext cx="9494907" cy="3076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Increasing pedestrian accidents and safety concerns in urban areas.</a:t>
            </a:r>
          </a:p>
          <a:p>
            <a:pPr marL="342900" marR="0" lvl="0" indent="-34290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Limitations of traditional surveillance systems (only detection, no deeper analysis).</a:t>
            </a:r>
          </a:p>
          <a:p>
            <a:pPr marL="342900" marR="0" lvl="0" indent="-34290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Need for real-time fall detection and abnormal activity monitoring.</a:t>
            </a:r>
          </a:p>
          <a:p>
            <a:pPr marL="342900" marR="0" lvl="0" indent="-34290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Growing demand for smart city and autonomous navigation solutions.</a:t>
            </a:r>
          </a:p>
          <a:p>
            <a:pPr marL="342900" marR="0" lvl="0" indent="-34290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Importance of data-driven decision-making using behavioral and demographic insights.</a:t>
            </a:r>
          </a:p>
        </p:txBody>
      </p:sp>
    </p:spTree>
    <p:extLst>
      <p:ext uri="{BB962C8B-B14F-4D97-AF65-F5344CB8AC3E}">
        <p14:creationId xmlns:p14="http://schemas.microsoft.com/office/powerpoint/2010/main" val="14840941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583FB0-9F89-F8D3-409A-3A3FFA12F7B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DAD60F1-9D59-DF0F-B566-CAF82CDD3A29}"/>
              </a:ext>
            </a:extLst>
          </p:cNvPr>
          <p:cNvSpPr txBox="1"/>
          <p:nvPr/>
        </p:nvSpPr>
        <p:spPr>
          <a:xfrm>
            <a:off x="325927" y="222500"/>
            <a:ext cx="7530363" cy="584775"/>
          </a:xfrm>
          <a:prstGeom prst="rect">
            <a:avLst/>
          </a:prstGeom>
          <a:noFill/>
        </p:spPr>
        <p:txBody>
          <a:bodyPr wrap="square" rtlCol="0">
            <a:spAutoFit/>
          </a:bodyPr>
          <a:lstStyle/>
          <a:p>
            <a:r>
              <a:rPr lang="en-US" sz="3200" b="1" dirty="0">
                <a:solidFill>
                  <a:srgbClr val="46B0FA"/>
                </a:solidFill>
                <a:latin typeface="Arial" panose="020B0604020202020204" pitchFamily="34" charset="0"/>
                <a:cs typeface="Arial" panose="020B0604020202020204" pitchFamily="34" charset="0"/>
              </a:rPr>
              <a:t>Introduction</a:t>
            </a:r>
            <a:endParaRPr lang="en-IN" sz="3200" b="1" dirty="0">
              <a:solidFill>
                <a:srgbClr val="46B0FA"/>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F7B52947-01F3-2735-8D33-5A7E7765C494}"/>
              </a:ext>
            </a:extLst>
          </p:cNvPr>
          <p:cNvSpPr txBox="1"/>
          <p:nvPr/>
        </p:nvSpPr>
        <p:spPr>
          <a:xfrm>
            <a:off x="1145499" y="1323855"/>
            <a:ext cx="9901002" cy="4211730"/>
          </a:xfrm>
          <a:prstGeom prst="rect">
            <a:avLst/>
          </a:prstGeom>
          <a:noFill/>
        </p:spPr>
        <p:txBody>
          <a:bodyPr wrap="square" rtlCol="0">
            <a:spAutoFit/>
          </a:bodyPr>
          <a:lstStyle/>
          <a:p>
            <a:r>
              <a:rPr lang="en-US" sz="2800" u="sng" dirty="0">
                <a:solidFill>
                  <a:srgbClr val="FF0000"/>
                </a:solidFill>
                <a:latin typeface="Times New Roman" panose="02020603050405020304" pitchFamily="18" charset="0"/>
                <a:cs typeface="Times New Roman" panose="02020603050405020304" pitchFamily="18" charset="0"/>
              </a:rPr>
              <a:t>Problem Statement:</a:t>
            </a:r>
          </a:p>
          <a:p>
            <a:endParaRPr lang="en-US" sz="2800" u="sng" dirty="0">
              <a:solidFill>
                <a:srgbClr val="FF0000"/>
              </a:solidFill>
              <a:latin typeface="Times New Roman" panose="02020603050405020304" pitchFamily="18" charset="0"/>
              <a:cs typeface="Times New Roman" panose="02020603050405020304" pitchFamily="18" charset="0"/>
            </a:endParaRPr>
          </a:p>
          <a:p>
            <a:pPr>
              <a:lnSpc>
                <a:spcPct val="150000"/>
              </a:lnSpc>
            </a:pPr>
            <a:r>
              <a:rPr lang="en-US" sz="2400" dirty="0">
                <a:latin typeface="Times New Roman" panose="02020603050405020304" pitchFamily="18" charset="0"/>
                <a:cs typeface="Times New Roman" panose="02020603050405020304" pitchFamily="18" charset="0"/>
              </a:rPr>
              <a:t>Existing pedestrian monitoring systems primarily focus on basic object detection and lack deeper analytical capabilities. They struggle in crowded and occluded environments, fail to maintain consistent identity tracking, and do not provide behavior or demographic insights. Therefore, there is a need for a unified, real-time intelligent system that integrates detection, tracking, behavior analysis, and demographic estimation into a single framework.</a:t>
            </a:r>
            <a:endParaRPr lang="en-US" sz="2400" u="sng"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947297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2EC635B-D8A3-4A72-8304-20FFBA5D21A3}"/>
              </a:ext>
            </a:extLst>
          </p:cNvPr>
          <p:cNvSpPr txBox="1"/>
          <p:nvPr/>
        </p:nvSpPr>
        <p:spPr>
          <a:xfrm>
            <a:off x="325927" y="248626"/>
            <a:ext cx="7530363" cy="584775"/>
          </a:xfrm>
          <a:prstGeom prst="rect">
            <a:avLst/>
          </a:prstGeom>
          <a:noFill/>
        </p:spPr>
        <p:txBody>
          <a:bodyPr wrap="square" rtlCol="0">
            <a:spAutoFit/>
          </a:bodyPr>
          <a:lstStyle/>
          <a:p>
            <a:r>
              <a:rPr lang="en-US" sz="3200" b="1" dirty="0">
                <a:solidFill>
                  <a:srgbClr val="46B0FA"/>
                </a:solidFill>
                <a:latin typeface="Arial" panose="020B0604020202020204" pitchFamily="34" charset="0"/>
                <a:cs typeface="Arial" panose="020B0604020202020204" pitchFamily="34" charset="0"/>
              </a:rPr>
              <a:t>Objective</a:t>
            </a:r>
            <a:endParaRPr lang="en-IN" sz="3200" b="1" dirty="0">
              <a:solidFill>
                <a:srgbClr val="46B0FA"/>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66168532-D141-4AB0-BD29-1663F2877B3E}"/>
              </a:ext>
            </a:extLst>
          </p:cNvPr>
          <p:cNvSpPr txBox="1"/>
          <p:nvPr/>
        </p:nvSpPr>
        <p:spPr>
          <a:xfrm>
            <a:off x="1071154" y="1064470"/>
            <a:ext cx="9901002" cy="800219"/>
          </a:xfrm>
          <a:prstGeom prst="rect">
            <a:avLst/>
          </a:prstGeom>
          <a:noFill/>
        </p:spPr>
        <p:txBody>
          <a:bodyPr wrap="square" rtlCol="0">
            <a:spAutoFit/>
          </a:bodyPr>
          <a:lstStyle/>
          <a:p>
            <a:endParaRPr lang="en-US" sz="2800" u="sng" dirty="0">
              <a:solidFill>
                <a:srgbClr val="FF0000"/>
              </a:solidFill>
              <a:latin typeface="Times New Roman" panose="02020603050405020304" pitchFamily="18" charset="0"/>
              <a:cs typeface="Times New Roman" panose="02020603050405020304" pitchFamily="18" charset="0"/>
            </a:endParaRPr>
          </a:p>
          <a:p>
            <a:endParaRPr lang="en-US" dirty="0">
              <a:solidFill>
                <a:srgbClr val="FF0000"/>
              </a:solidFill>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17259DDC-B6FC-015C-EDDA-BC6D7FF92753}"/>
              </a:ext>
            </a:extLst>
          </p:cNvPr>
          <p:cNvSpPr>
            <a:spLocks noChangeArrowheads="1"/>
          </p:cNvSpPr>
          <p:nvPr/>
        </p:nvSpPr>
        <p:spPr bwMode="auto">
          <a:xfrm>
            <a:off x="1071154" y="1118824"/>
            <a:ext cx="10851503" cy="19538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50000"/>
              </a:lnSpc>
              <a:spcBef>
                <a:spcPct val="0"/>
              </a:spcBef>
              <a:spcAft>
                <a:spcPct val="0"/>
              </a:spcAft>
            </a:pPr>
            <a:r>
              <a:rPr lang="en-US" sz="2800" u="sng" dirty="0">
                <a:solidFill>
                  <a:srgbClr val="FF0000"/>
                </a:solidFill>
                <a:latin typeface="Times New Roman" panose="02020603050405020304" pitchFamily="18" charset="0"/>
                <a:cs typeface="Times New Roman" panose="02020603050405020304" pitchFamily="18" charset="0"/>
              </a:rPr>
              <a:t>Main Objective:</a:t>
            </a: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5" name="Rectangle 1">
            <a:extLst>
              <a:ext uri="{FF2B5EF4-FFF2-40B4-BE49-F238E27FC236}">
                <a16:creationId xmlns:a16="http://schemas.microsoft.com/office/drawing/2014/main" id="{FBA51E16-176A-E0A8-3140-B0301CC8BD34}"/>
              </a:ext>
            </a:extLst>
          </p:cNvPr>
          <p:cNvSpPr>
            <a:spLocks noChangeArrowheads="1"/>
          </p:cNvSpPr>
          <p:nvPr/>
        </p:nvSpPr>
        <p:spPr bwMode="auto">
          <a:xfrm>
            <a:off x="1782147" y="1919043"/>
            <a:ext cx="7585731" cy="3076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Develop a robust real-time pedestrian detection system</a:t>
            </a: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Implement reliable tracking and re-identification across frames</a:t>
            </a: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Integrate pose estimation for activity and fall detection</a:t>
            </a: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Extract demographic insights such as age and gender</a:t>
            </a: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Build a unified, scalable system for smart city and safety applications</a:t>
            </a:r>
          </a:p>
        </p:txBody>
      </p:sp>
    </p:spTree>
    <p:extLst>
      <p:ext uri="{BB962C8B-B14F-4D97-AF65-F5344CB8AC3E}">
        <p14:creationId xmlns:p14="http://schemas.microsoft.com/office/powerpoint/2010/main" val="23140054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2EC635B-D8A3-4A72-8304-20FFBA5D21A3}"/>
              </a:ext>
            </a:extLst>
          </p:cNvPr>
          <p:cNvSpPr txBox="1"/>
          <p:nvPr/>
        </p:nvSpPr>
        <p:spPr>
          <a:xfrm>
            <a:off x="325927" y="222500"/>
            <a:ext cx="7530363" cy="584775"/>
          </a:xfrm>
          <a:prstGeom prst="rect">
            <a:avLst/>
          </a:prstGeom>
          <a:noFill/>
        </p:spPr>
        <p:txBody>
          <a:bodyPr wrap="square" rtlCol="0">
            <a:spAutoFit/>
          </a:bodyPr>
          <a:lstStyle/>
          <a:p>
            <a:r>
              <a:rPr lang="en-US" sz="3200" b="1" dirty="0">
                <a:solidFill>
                  <a:srgbClr val="46B0FA"/>
                </a:solidFill>
                <a:latin typeface="Arial" panose="020B0604020202020204" pitchFamily="34" charset="0"/>
                <a:cs typeface="Arial" panose="020B0604020202020204" pitchFamily="34" charset="0"/>
              </a:rPr>
              <a:t>Introduction</a:t>
            </a:r>
            <a:endParaRPr lang="en-IN" sz="3200" b="1" dirty="0">
              <a:solidFill>
                <a:srgbClr val="46B0FA"/>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66168532-D141-4AB0-BD29-1663F2877B3E}"/>
              </a:ext>
            </a:extLst>
          </p:cNvPr>
          <p:cNvSpPr txBox="1"/>
          <p:nvPr/>
        </p:nvSpPr>
        <p:spPr>
          <a:xfrm>
            <a:off x="1042786" y="1025970"/>
            <a:ext cx="11010767" cy="1138773"/>
          </a:xfrm>
          <a:prstGeom prst="rect">
            <a:avLst/>
          </a:prstGeom>
          <a:noFill/>
        </p:spPr>
        <p:txBody>
          <a:bodyPr wrap="square" rtlCol="0">
            <a:spAutoFit/>
          </a:bodyPr>
          <a:lstStyle/>
          <a:p>
            <a:r>
              <a:rPr lang="en-US" sz="2800" u="sng" dirty="0">
                <a:solidFill>
                  <a:srgbClr val="FF0000"/>
                </a:solidFill>
                <a:latin typeface="Times New Roman" panose="02020603050405020304" pitchFamily="18" charset="0"/>
                <a:cs typeface="Times New Roman" panose="02020603050405020304" pitchFamily="18" charset="0"/>
              </a:rPr>
              <a:t>Technical Concepts used:</a:t>
            </a:r>
          </a:p>
          <a:p>
            <a:endParaRPr lang="en-US" sz="2000" dirty="0">
              <a:solidFill>
                <a:srgbClr val="FF0000"/>
              </a:solidFill>
              <a:latin typeface="Times New Roman" panose="02020603050405020304" pitchFamily="18" charset="0"/>
              <a:cs typeface="Times New Roman" panose="02020603050405020304" pitchFamily="18" charset="0"/>
            </a:endParaRPr>
          </a:p>
          <a:p>
            <a:endParaRPr lang="en-US" sz="2000" dirty="0">
              <a:solidFill>
                <a:srgbClr val="FF0000"/>
              </a:solidFill>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4A363158-3286-5582-B2B0-71BF62207F81}"/>
              </a:ext>
            </a:extLst>
          </p:cNvPr>
          <p:cNvSpPr>
            <a:spLocks noChangeArrowheads="1"/>
          </p:cNvSpPr>
          <p:nvPr/>
        </p:nvSpPr>
        <p:spPr bwMode="auto">
          <a:xfrm>
            <a:off x="1147665" y="1848997"/>
            <a:ext cx="8368188" cy="36918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Deep Learning &amp; Computer Vision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intelligent visual analysis</a:t>
            </a: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YOLOv8</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real-time pedestrian detection</a:t>
            </a: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DeepSORT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multi-object tracking and identity preservation</a:t>
            </a: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HRNet</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LSTM/Transformer</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pose estimation and behavior recognition</a:t>
            </a: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CNN-based Multi-task Learning</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age and gender estimation</a:t>
            </a: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ONNX &amp; </a:t>
            </a: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TensorRT</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Optimization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real-time deployment</a:t>
            </a:r>
          </a:p>
        </p:txBody>
      </p:sp>
    </p:spTree>
    <p:extLst>
      <p:ext uri="{BB962C8B-B14F-4D97-AF65-F5344CB8AC3E}">
        <p14:creationId xmlns:p14="http://schemas.microsoft.com/office/powerpoint/2010/main" val="4804939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893DAD-C953-F374-231C-7A9BCD3494F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0B8190D-141E-6B23-C000-90E816AA2D48}"/>
              </a:ext>
            </a:extLst>
          </p:cNvPr>
          <p:cNvSpPr txBox="1"/>
          <p:nvPr/>
        </p:nvSpPr>
        <p:spPr>
          <a:xfrm>
            <a:off x="234487" y="248626"/>
            <a:ext cx="7530363" cy="584775"/>
          </a:xfrm>
          <a:prstGeom prst="rect">
            <a:avLst/>
          </a:prstGeom>
          <a:noFill/>
        </p:spPr>
        <p:txBody>
          <a:bodyPr wrap="square" rtlCol="0">
            <a:spAutoFit/>
          </a:bodyPr>
          <a:lstStyle/>
          <a:p>
            <a:r>
              <a:rPr lang="en-US" sz="3200" b="1" dirty="0">
                <a:solidFill>
                  <a:srgbClr val="46B0FA"/>
                </a:solidFill>
                <a:latin typeface="Arial" panose="020B0604020202020204" pitchFamily="34" charset="0"/>
                <a:cs typeface="Arial" panose="020B0604020202020204" pitchFamily="34" charset="0"/>
              </a:rPr>
              <a:t>Literature Review</a:t>
            </a:r>
          </a:p>
        </p:txBody>
      </p:sp>
      <p:sp>
        <p:nvSpPr>
          <p:cNvPr id="3" name="TextBox 2">
            <a:extLst>
              <a:ext uri="{FF2B5EF4-FFF2-40B4-BE49-F238E27FC236}">
                <a16:creationId xmlns:a16="http://schemas.microsoft.com/office/drawing/2014/main" id="{DD30942C-71D1-F907-FBB6-976883200401}"/>
              </a:ext>
            </a:extLst>
          </p:cNvPr>
          <p:cNvSpPr txBox="1"/>
          <p:nvPr/>
        </p:nvSpPr>
        <p:spPr>
          <a:xfrm>
            <a:off x="796833" y="1013684"/>
            <a:ext cx="9901002"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sng" strike="noStrike" kern="1200" cap="none" spc="0"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rPr>
              <a:t>SWOT Analysis:</a:t>
            </a:r>
            <a:endParaRPr kumimoji="0" lang="en-US" sz="2000" b="0" i="0" u="sng" strike="noStrike" kern="1200" cap="none" spc="0"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16D61FAE-8412-EDD3-AACF-DF56BE201EC5}"/>
              </a:ext>
            </a:extLst>
          </p:cNvPr>
          <p:cNvPicPr>
            <a:picLocks noChangeAspect="1"/>
          </p:cNvPicPr>
          <p:nvPr/>
        </p:nvPicPr>
        <p:blipFill>
          <a:blip r:embed="rId2"/>
          <a:stretch>
            <a:fillRect/>
          </a:stretch>
        </p:blipFill>
        <p:spPr>
          <a:xfrm>
            <a:off x="2077485" y="1717187"/>
            <a:ext cx="8403923" cy="4250483"/>
          </a:xfrm>
          <a:prstGeom prst="rect">
            <a:avLst/>
          </a:prstGeom>
        </p:spPr>
      </p:pic>
    </p:spTree>
    <p:extLst>
      <p:ext uri="{BB962C8B-B14F-4D97-AF65-F5344CB8AC3E}">
        <p14:creationId xmlns:p14="http://schemas.microsoft.com/office/powerpoint/2010/main" val="33081716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C68D25-CD70-DC46-CB01-96FF412167F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11E8F71-A501-4230-49A8-8D6EA2F12BF5}"/>
              </a:ext>
            </a:extLst>
          </p:cNvPr>
          <p:cNvSpPr txBox="1"/>
          <p:nvPr/>
        </p:nvSpPr>
        <p:spPr>
          <a:xfrm>
            <a:off x="325927" y="222500"/>
            <a:ext cx="7530363" cy="584775"/>
          </a:xfrm>
          <a:prstGeom prst="rect">
            <a:avLst/>
          </a:prstGeom>
          <a:noFill/>
        </p:spPr>
        <p:txBody>
          <a:bodyPr wrap="square" rtlCol="0">
            <a:spAutoFit/>
          </a:bodyPr>
          <a:lstStyle/>
          <a:p>
            <a:r>
              <a:rPr lang="en-US" sz="3200" b="1" dirty="0">
                <a:solidFill>
                  <a:srgbClr val="46B0FA"/>
                </a:solidFill>
                <a:latin typeface="Arial" panose="020B0604020202020204" pitchFamily="34" charset="0"/>
                <a:cs typeface="Arial" panose="020B0604020202020204" pitchFamily="34" charset="0"/>
              </a:rPr>
              <a:t>Introduction</a:t>
            </a:r>
            <a:endParaRPr lang="en-IN" sz="3200" b="1" dirty="0">
              <a:solidFill>
                <a:srgbClr val="46B0FA"/>
              </a:solidFill>
              <a:latin typeface="Arial" panose="020B0604020202020204" pitchFamily="34" charset="0"/>
              <a:cs typeface="Arial" panose="020B0604020202020204" pitchFamily="34" charset="0"/>
            </a:endParaRPr>
          </a:p>
        </p:txBody>
      </p:sp>
      <p:sp>
        <p:nvSpPr>
          <p:cNvPr id="4" name="Rectangle 1">
            <a:extLst>
              <a:ext uri="{FF2B5EF4-FFF2-40B4-BE49-F238E27FC236}">
                <a16:creationId xmlns:a16="http://schemas.microsoft.com/office/drawing/2014/main" id="{EF1F82B2-9311-4B8C-3736-7A59D490DBEA}"/>
              </a:ext>
            </a:extLst>
          </p:cNvPr>
          <p:cNvSpPr>
            <a:spLocks noChangeArrowheads="1"/>
          </p:cNvSpPr>
          <p:nvPr/>
        </p:nvSpPr>
        <p:spPr bwMode="auto">
          <a:xfrm>
            <a:off x="1279375" y="1254848"/>
            <a:ext cx="8957387" cy="9714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eaLnBrk="0" fontAlgn="base" hangingPunct="0">
              <a:lnSpc>
                <a:spcPct val="150000"/>
              </a:lnSpc>
              <a:spcBef>
                <a:spcPct val="0"/>
              </a:spcBef>
              <a:spcAft>
                <a:spcPct val="0"/>
              </a:spcAft>
            </a:pPr>
            <a:r>
              <a:rPr lang="en-US" sz="2400" u="sng" dirty="0">
                <a:solidFill>
                  <a:srgbClr val="FF0000"/>
                </a:solidFill>
                <a:latin typeface="Times New Roman" panose="02020603050405020304" pitchFamily="18" charset="0"/>
                <a:cs typeface="Times New Roman" panose="02020603050405020304" pitchFamily="18" charset="0"/>
              </a:rPr>
              <a:t>Area of Application:</a:t>
            </a:r>
          </a:p>
          <a:p>
            <a:pPr lvl="0" algn="just" eaLnBrk="0" fontAlgn="base" hangingPunct="0">
              <a:lnSpc>
                <a:spcPct val="150000"/>
              </a:lnSpc>
              <a:spcBef>
                <a:spcPct val="0"/>
              </a:spcBef>
              <a:spcAft>
                <a:spcPct val="0"/>
              </a:spcAft>
            </a:pPr>
            <a:endParaRPr lang="en-US" altLang="en-US" sz="1600" dirty="0">
              <a:latin typeface="Times New Roman" panose="02020603050405020304" pitchFamily="18" charset="0"/>
              <a:cs typeface="Times New Roman" panose="02020603050405020304" pitchFamily="18" charset="0"/>
            </a:endParaRPr>
          </a:p>
        </p:txBody>
      </p:sp>
      <p:sp>
        <p:nvSpPr>
          <p:cNvPr id="3" name="Rectangle 1">
            <a:extLst>
              <a:ext uri="{FF2B5EF4-FFF2-40B4-BE49-F238E27FC236}">
                <a16:creationId xmlns:a16="http://schemas.microsoft.com/office/drawing/2014/main" id="{9AEEB9AD-99C3-905B-8913-56B5A2B04479}"/>
              </a:ext>
            </a:extLst>
          </p:cNvPr>
          <p:cNvSpPr>
            <a:spLocks noChangeArrowheads="1"/>
          </p:cNvSpPr>
          <p:nvPr/>
        </p:nvSpPr>
        <p:spPr bwMode="auto">
          <a:xfrm>
            <a:off x="1279375" y="2105458"/>
            <a:ext cx="8376652" cy="3076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Smart Cities – Crowd monitoring and pedestrian safety management</a:t>
            </a: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Surveillance &amp; Security – Real-time anomaly and fall detection</a:t>
            </a: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Autonomous Vehicles – Safe navigation through accurate pedestrian tracking</a:t>
            </a: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Healthcare &amp; Elderly Care – Remote fall detection and activity monitoring</a:t>
            </a: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Retail Analytics – Demographic insights and customer footfall analysis</a:t>
            </a:r>
          </a:p>
        </p:txBody>
      </p:sp>
    </p:spTree>
    <p:extLst>
      <p:ext uri="{BB962C8B-B14F-4D97-AF65-F5344CB8AC3E}">
        <p14:creationId xmlns:p14="http://schemas.microsoft.com/office/powerpoint/2010/main" val="30307769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2EC635B-D8A3-4A72-8304-20FFBA5D21A3}"/>
              </a:ext>
            </a:extLst>
          </p:cNvPr>
          <p:cNvSpPr txBox="1"/>
          <p:nvPr/>
        </p:nvSpPr>
        <p:spPr>
          <a:xfrm>
            <a:off x="234487" y="248626"/>
            <a:ext cx="7530363" cy="584775"/>
          </a:xfrm>
          <a:prstGeom prst="rect">
            <a:avLst/>
          </a:prstGeom>
          <a:noFill/>
        </p:spPr>
        <p:txBody>
          <a:bodyPr wrap="square" rtlCol="0">
            <a:spAutoFit/>
          </a:bodyPr>
          <a:lstStyle/>
          <a:p>
            <a:r>
              <a:rPr lang="en-US" sz="3200" b="1" dirty="0">
                <a:solidFill>
                  <a:srgbClr val="46B0FA"/>
                </a:solidFill>
                <a:latin typeface="Arial" panose="020B0604020202020204" pitchFamily="34" charset="0"/>
                <a:cs typeface="Arial" panose="020B0604020202020204" pitchFamily="34" charset="0"/>
              </a:rPr>
              <a:t>Literature Review</a:t>
            </a:r>
          </a:p>
        </p:txBody>
      </p:sp>
      <p:sp>
        <p:nvSpPr>
          <p:cNvPr id="8" name="Rectangle 5">
            <a:extLst>
              <a:ext uri="{FF2B5EF4-FFF2-40B4-BE49-F238E27FC236}">
                <a16:creationId xmlns:a16="http://schemas.microsoft.com/office/drawing/2014/main" id="{B43B3F2E-1F25-3184-81F6-413617AFF549}"/>
              </a:ext>
            </a:extLst>
          </p:cNvPr>
          <p:cNvSpPr>
            <a:spLocks noChangeArrowheads="1"/>
          </p:cNvSpPr>
          <p:nvPr/>
        </p:nvSpPr>
        <p:spPr bwMode="auto">
          <a:xfrm>
            <a:off x="1066800" y="1087072"/>
            <a:ext cx="9974424" cy="6612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eaLnBrk="0" fontAlgn="base" hangingPunct="0">
              <a:lnSpc>
                <a:spcPct val="150000"/>
              </a:lnSpc>
              <a:spcBef>
                <a:spcPct val="0"/>
              </a:spcBef>
              <a:spcAft>
                <a:spcPct val="0"/>
              </a:spcAft>
            </a:pPr>
            <a:r>
              <a:rPr lang="en-US" sz="2800" u="sng" dirty="0">
                <a:solidFill>
                  <a:srgbClr val="FF0000"/>
                </a:solidFill>
                <a:latin typeface="Times New Roman" panose="02020603050405020304" pitchFamily="18" charset="0"/>
                <a:cs typeface="Times New Roman" panose="02020603050405020304" pitchFamily="18" charset="0"/>
              </a:rPr>
              <a:t>Cite Related work:</a:t>
            </a:r>
          </a:p>
        </p:txBody>
      </p:sp>
      <p:sp>
        <p:nvSpPr>
          <p:cNvPr id="3" name="Rectangle 1">
            <a:extLst>
              <a:ext uri="{FF2B5EF4-FFF2-40B4-BE49-F238E27FC236}">
                <a16:creationId xmlns:a16="http://schemas.microsoft.com/office/drawing/2014/main" id="{AE6F7F7F-119F-B2C6-E45B-504C6B9C2AC7}"/>
              </a:ext>
            </a:extLst>
          </p:cNvPr>
          <p:cNvSpPr>
            <a:spLocks noChangeArrowheads="1"/>
          </p:cNvSpPr>
          <p:nvPr/>
        </p:nvSpPr>
        <p:spPr bwMode="auto">
          <a:xfrm>
            <a:off x="1066800" y="1886323"/>
            <a:ext cx="9879628" cy="36918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Deep learning–based pedestrian detection studies addressing occlusion and scale challenges</a:t>
            </a: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DeepSORT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improved multi-object tracking and identity preservation</a:t>
            </a: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OpenPose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HRNet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real-time human pose estimation</a:t>
            </a: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Research on pose-based fall detection using deep learning</a:t>
            </a: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Person re-identification techniques for cross-camera tracking</a:t>
            </a: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Studies highlighting age and gender bias in detection algorithms</a:t>
            </a:r>
          </a:p>
        </p:txBody>
      </p:sp>
    </p:spTree>
    <p:extLst>
      <p:ext uri="{BB962C8B-B14F-4D97-AF65-F5344CB8AC3E}">
        <p14:creationId xmlns:p14="http://schemas.microsoft.com/office/powerpoint/2010/main" val="25079636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2EC635B-D8A3-4A72-8304-20FFBA5D21A3}"/>
              </a:ext>
            </a:extLst>
          </p:cNvPr>
          <p:cNvSpPr txBox="1"/>
          <p:nvPr/>
        </p:nvSpPr>
        <p:spPr>
          <a:xfrm>
            <a:off x="325927" y="279594"/>
            <a:ext cx="7530363" cy="584775"/>
          </a:xfrm>
          <a:prstGeom prst="rect">
            <a:avLst/>
          </a:prstGeom>
          <a:noFill/>
        </p:spPr>
        <p:txBody>
          <a:bodyPr wrap="square" rtlCol="0">
            <a:spAutoFit/>
          </a:bodyPr>
          <a:lstStyle/>
          <a:p>
            <a:r>
              <a:rPr lang="en-IN" sz="3200" b="1" dirty="0">
                <a:solidFill>
                  <a:srgbClr val="46B0FA"/>
                </a:solidFill>
                <a:latin typeface="Arial" panose="020B0604020202020204" pitchFamily="34" charset="0"/>
                <a:cs typeface="Arial" panose="020B0604020202020204" pitchFamily="34" charset="0"/>
              </a:rPr>
              <a:t>Reference</a:t>
            </a:r>
          </a:p>
        </p:txBody>
      </p:sp>
      <p:sp>
        <p:nvSpPr>
          <p:cNvPr id="4" name="Rectangle 1">
            <a:extLst>
              <a:ext uri="{FF2B5EF4-FFF2-40B4-BE49-F238E27FC236}">
                <a16:creationId xmlns:a16="http://schemas.microsoft.com/office/drawing/2014/main" id="{AFB52527-4243-203B-C4D4-10F16F42320F}"/>
              </a:ext>
            </a:extLst>
          </p:cNvPr>
          <p:cNvSpPr>
            <a:spLocks noChangeArrowheads="1"/>
          </p:cNvSpPr>
          <p:nvPr/>
        </p:nvSpPr>
        <p:spPr bwMode="auto">
          <a:xfrm>
            <a:off x="615821" y="1858606"/>
            <a:ext cx="10972799" cy="37379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IN" sz="2000" b="1" dirty="0">
                <a:latin typeface="Times New Roman" panose="02020603050405020304" pitchFamily="18" charset="0"/>
                <a:cs typeface="Times New Roman" panose="02020603050405020304" pitchFamily="18" charset="0"/>
              </a:rPr>
              <a:t>[1] Zhang et al. (2017) Deep Learning for Pedestrian Detection -</a:t>
            </a:r>
            <a:r>
              <a:rPr lang="en-IN" sz="2000" dirty="0">
                <a:latin typeface="Times New Roman" panose="02020603050405020304" pitchFamily="18" charset="0"/>
                <a:cs typeface="Times New Roman" panose="02020603050405020304" pitchFamily="18" charset="0"/>
              </a:rPr>
              <a:t> </a:t>
            </a:r>
            <a:r>
              <a:rPr lang="en-IN" sz="2000" i="1" dirty="0">
                <a:latin typeface="Times New Roman" panose="02020603050405020304" pitchFamily="18" charset="0"/>
                <a:cs typeface="Times New Roman" panose="02020603050405020304" pitchFamily="18" charset="0"/>
              </a:rPr>
              <a:t>Guided robust detection model selection.</a:t>
            </a:r>
            <a:endParaRPr lang="en-IN" sz="2000" dirty="0">
              <a:latin typeface="Times New Roman" panose="02020603050405020304" pitchFamily="18" charset="0"/>
              <a:cs typeface="Times New Roman" panose="02020603050405020304" pitchFamily="18" charset="0"/>
            </a:endParaRPr>
          </a:p>
          <a:p>
            <a:pPr>
              <a:lnSpc>
                <a:spcPct val="150000"/>
              </a:lnSpc>
            </a:pPr>
            <a:r>
              <a:rPr lang="en-IN" sz="2000" b="1" dirty="0">
                <a:latin typeface="Times New Roman" panose="02020603050405020304" pitchFamily="18" charset="0"/>
                <a:cs typeface="Times New Roman" panose="02020603050405020304" pitchFamily="18" charset="0"/>
              </a:rPr>
              <a:t>[2] </a:t>
            </a:r>
            <a:r>
              <a:rPr lang="en-IN" sz="2000" b="1" dirty="0" err="1">
                <a:latin typeface="Times New Roman" panose="02020603050405020304" pitchFamily="18" charset="0"/>
                <a:cs typeface="Times New Roman" panose="02020603050405020304" pitchFamily="18" charset="0"/>
              </a:rPr>
              <a:t>Wojke</a:t>
            </a:r>
            <a:r>
              <a:rPr lang="en-IN" sz="2000" b="1" dirty="0">
                <a:latin typeface="Times New Roman" panose="02020603050405020304" pitchFamily="18" charset="0"/>
                <a:cs typeface="Times New Roman" panose="02020603050405020304" pitchFamily="18" charset="0"/>
              </a:rPr>
              <a:t> et al. (2017) </a:t>
            </a:r>
            <a:r>
              <a:rPr lang="en-IN" sz="2000" b="1" dirty="0" err="1">
                <a:latin typeface="Times New Roman" panose="02020603050405020304" pitchFamily="18" charset="0"/>
                <a:cs typeface="Times New Roman" panose="02020603050405020304" pitchFamily="18" charset="0"/>
              </a:rPr>
              <a:t>DeepSORT</a:t>
            </a:r>
            <a:r>
              <a:rPr lang="en-IN" sz="2000" b="1" dirty="0">
                <a:latin typeface="Times New Roman" panose="02020603050405020304" pitchFamily="18" charset="0"/>
                <a:cs typeface="Times New Roman" panose="02020603050405020304" pitchFamily="18" charset="0"/>
              </a:rPr>
              <a:t> - </a:t>
            </a:r>
            <a:r>
              <a:rPr lang="en-IN" sz="2000" i="1" dirty="0">
                <a:latin typeface="Times New Roman" panose="02020603050405020304" pitchFamily="18" charset="0"/>
                <a:cs typeface="Times New Roman" panose="02020603050405020304" pitchFamily="18" charset="0"/>
              </a:rPr>
              <a:t>Improved multi-object tracking and identity preservation.</a:t>
            </a:r>
            <a:endParaRPr lang="en-IN" sz="2000" dirty="0">
              <a:latin typeface="Times New Roman" panose="02020603050405020304" pitchFamily="18" charset="0"/>
              <a:cs typeface="Times New Roman" panose="02020603050405020304" pitchFamily="18" charset="0"/>
            </a:endParaRPr>
          </a:p>
          <a:p>
            <a:pPr>
              <a:lnSpc>
                <a:spcPct val="150000"/>
              </a:lnSpc>
            </a:pPr>
            <a:r>
              <a:rPr lang="en-IN" sz="2000" b="1" dirty="0">
                <a:latin typeface="Times New Roman" panose="02020603050405020304" pitchFamily="18" charset="0"/>
                <a:cs typeface="Times New Roman" panose="02020603050405020304" pitchFamily="18" charset="0"/>
              </a:rPr>
              <a:t>[3] Cao et al. (2017)</a:t>
            </a:r>
            <a:r>
              <a:rPr lang="en-IN" sz="2000" dirty="0">
                <a:latin typeface="Times New Roman" panose="02020603050405020304" pitchFamily="18" charset="0"/>
                <a:cs typeface="Times New Roman" panose="02020603050405020304" pitchFamily="18" charset="0"/>
              </a:rPr>
              <a:t> </a:t>
            </a:r>
            <a:r>
              <a:rPr lang="en-IN" sz="2000" b="1" dirty="0" err="1">
                <a:latin typeface="Times New Roman" panose="02020603050405020304" pitchFamily="18" charset="0"/>
                <a:cs typeface="Times New Roman" panose="02020603050405020304" pitchFamily="18" charset="0"/>
              </a:rPr>
              <a:t>OpenPose</a:t>
            </a:r>
            <a:r>
              <a:rPr lang="en-IN" sz="2000" b="1" dirty="0">
                <a:latin typeface="Times New Roman" panose="02020603050405020304" pitchFamily="18" charset="0"/>
                <a:cs typeface="Times New Roman" panose="02020603050405020304" pitchFamily="18" charset="0"/>
              </a:rPr>
              <a:t> - </a:t>
            </a:r>
            <a:r>
              <a:rPr lang="en-IN" sz="2000" i="1" dirty="0">
                <a:latin typeface="Times New Roman" panose="02020603050405020304" pitchFamily="18" charset="0"/>
                <a:cs typeface="Times New Roman" panose="02020603050405020304" pitchFamily="18" charset="0"/>
              </a:rPr>
              <a:t>Foundation for pose-based activity recognition.</a:t>
            </a:r>
            <a:endParaRPr lang="en-IN" sz="2000" dirty="0">
              <a:latin typeface="Times New Roman" panose="02020603050405020304" pitchFamily="18" charset="0"/>
              <a:cs typeface="Times New Roman" panose="02020603050405020304" pitchFamily="18" charset="0"/>
            </a:endParaRPr>
          </a:p>
          <a:p>
            <a:pPr>
              <a:lnSpc>
                <a:spcPct val="150000"/>
              </a:lnSpc>
            </a:pPr>
            <a:r>
              <a:rPr lang="en-IN" sz="2000" b="1" dirty="0">
                <a:latin typeface="Times New Roman" panose="02020603050405020304" pitchFamily="18" charset="0"/>
                <a:cs typeface="Times New Roman" panose="02020603050405020304" pitchFamily="18" charset="0"/>
              </a:rPr>
              <a:t>[4] Sun et al. (2019) </a:t>
            </a:r>
            <a:r>
              <a:rPr lang="en-IN" sz="2000" b="1" dirty="0" err="1">
                <a:latin typeface="Times New Roman" panose="02020603050405020304" pitchFamily="18" charset="0"/>
                <a:cs typeface="Times New Roman" panose="02020603050405020304" pitchFamily="18" charset="0"/>
              </a:rPr>
              <a:t>HRNet</a:t>
            </a:r>
            <a:r>
              <a:rPr lang="en-IN" sz="2000" b="1" dirty="0">
                <a:latin typeface="Times New Roman" panose="02020603050405020304" pitchFamily="18" charset="0"/>
                <a:cs typeface="Times New Roman" panose="02020603050405020304" pitchFamily="18" charset="0"/>
              </a:rPr>
              <a:t> - </a:t>
            </a:r>
            <a:r>
              <a:rPr lang="en-IN" sz="2000" i="1" dirty="0">
                <a:latin typeface="Times New Roman" panose="02020603050405020304" pitchFamily="18" charset="0"/>
                <a:cs typeface="Times New Roman" panose="02020603050405020304" pitchFamily="18" charset="0"/>
              </a:rPr>
              <a:t>Enhanced accurate </a:t>
            </a:r>
            <a:r>
              <a:rPr lang="en-IN" sz="2000" i="1" dirty="0" err="1">
                <a:latin typeface="Times New Roman" panose="02020603050405020304" pitchFamily="18" charset="0"/>
                <a:cs typeface="Times New Roman" panose="02020603050405020304" pitchFamily="18" charset="0"/>
              </a:rPr>
              <a:t>keypoint</a:t>
            </a:r>
            <a:r>
              <a:rPr lang="en-IN" sz="2000" i="1" dirty="0">
                <a:latin typeface="Times New Roman" panose="02020603050405020304" pitchFamily="18" charset="0"/>
                <a:cs typeface="Times New Roman" panose="02020603050405020304" pitchFamily="18" charset="0"/>
              </a:rPr>
              <a:t> estimation for </a:t>
            </a:r>
            <a:r>
              <a:rPr lang="en-IN" sz="2000" i="1" dirty="0" err="1">
                <a:latin typeface="Times New Roman" panose="02020603050405020304" pitchFamily="18" charset="0"/>
                <a:cs typeface="Times New Roman" panose="02020603050405020304" pitchFamily="18" charset="0"/>
              </a:rPr>
              <a:t>behavior</a:t>
            </a:r>
            <a:r>
              <a:rPr lang="en-IN" sz="2000" i="1" dirty="0">
                <a:latin typeface="Times New Roman" panose="02020603050405020304" pitchFamily="18" charset="0"/>
                <a:cs typeface="Times New Roman" panose="02020603050405020304" pitchFamily="18" charset="0"/>
              </a:rPr>
              <a:t> analysis.</a:t>
            </a:r>
            <a:endParaRPr lang="en-IN" sz="2000" dirty="0">
              <a:latin typeface="Times New Roman" panose="02020603050405020304" pitchFamily="18" charset="0"/>
              <a:cs typeface="Times New Roman" panose="02020603050405020304" pitchFamily="18" charset="0"/>
            </a:endParaRPr>
          </a:p>
          <a:p>
            <a:pPr>
              <a:lnSpc>
                <a:spcPct val="150000"/>
              </a:lnSpc>
            </a:pPr>
            <a:r>
              <a:rPr lang="en-IN" sz="2000" b="1" dirty="0">
                <a:latin typeface="Times New Roman" panose="02020603050405020304" pitchFamily="18" charset="0"/>
                <a:cs typeface="Times New Roman" panose="02020603050405020304" pitchFamily="18" charset="0"/>
              </a:rPr>
              <a:t>[5] Zheng et al. (2019) Person Re-Identification - </a:t>
            </a:r>
            <a:r>
              <a:rPr lang="en-IN" sz="2000" i="1" dirty="0">
                <a:latin typeface="Times New Roman" panose="02020603050405020304" pitchFamily="18" charset="0"/>
                <a:cs typeface="Times New Roman" panose="02020603050405020304" pitchFamily="18" charset="0"/>
              </a:rPr>
              <a:t>Supported cross-camera identity tracking.</a:t>
            </a:r>
            <a:endParaRPr lang="en-IN" sz="2000" dirty="0">
              <a:latin typeface="Times New Roman" panose="02020603050405020304" pitchFamily="18" charset="0"/>
              <a:cs typeface="Times New Roman" panose="02020603050405020304" pitchFamily="18" charset="0"/>
            </a:endParaRPr>
          </a:p>
          <a:p>
            <a:pPr>
              <a:lnSpc>
                <a:spcPct val="150000"/>
              </a:lnSpc>
            </a:pPr>
            <a:r>
              <a:rPr lang="en-IN" sz="2000" b="1" dirty="0">
                <a:latin typeface="Times New Roman" panose="02020603050405020304" pitchFamily="18" charset="0"/>
                <a:cs typeface="Times New Roman" panose="02020603050405020304" pitchFamily="18" charset="0"/>
              </a:rPr>
              <a:t>[6] Li et al. (2021) Deep Learning Fall Detection - </a:t>
            </a:r>
            <a:r>
              <a:rPr lang="en-IN" sz="2000" i="1" dirty="0">
                <a:latin typeface="Times New Roman" panose="02020603050405020304" pitchFamily="18" charset="0"/>
                <a:cs typeface="Times New Roman" panose="02020603050405020304" pitchFamily="18" charset="0"/>
              </a:rPr>
              <a:t>Enabled reliable fall detection using pose analysis.</a:t>
            </a:r>
            <a:endParaRPr lang="en-IN" sz="2000" dirty="0">
              <a:latin typeface="Times New Roman" panose="02020603050405020304" pitchFamily="18" charset="0"/>
              <a:cs typeface="Times New Roman" panose="02020603050405020304" pitchFamily="18" charset="0"/>
            </a:endParaRPr>
          </a:p>
          <a:p>
            <a:pPr>
              <a:lnSpc>
                <a:spcPct val="150000"/>
              </a:lnSpc>
            </a:pPr>
            <a:r>
              <a:rPr lang="en-IN" sz="2000" b="1" dirty="0">
                <a:latin typeface="Times New Roman" panose="02020603050405020304" pitchFamily="18" charset="0"/>
                <a:cs typeface="Times New Roman" panose="02020603050405020304" pitchFamily="18" charset="0"/>
              </a:rPr>
              <a:t>[7] Brandão (2019) Bias in Detection Algorithms - </a:t>
            </a:r>
            <a:r>
              <a:rPr lang="en-IN" sz="2000" i="1" dirty="0">
                <a:latin typeface="Times New Roman" panose="02020603050405020304" pitchFamily="18" charset="0"/>
                <a:cs typeface="Times New Roman" panose="02020603050405020304" pitchFamily="18" charset="0"/>
              </a:rPr>
              <a:t>Highlighted fairness in age and gender estimation.</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590812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39D82EA-6098-704F-AD4D-D13A499C492D}"/>
              </a:ext>
            </a:extLst>
          </p:cNvPr>
          <p:cNvSpPr txBox="1"/>
          <p:nvPr/>
        </p:nvSpPr>
        <p:spPr>
          <a:xfrm>
            <a:off x="1895294" y="3601496"/>
            <a:ext cx="8401412" cy="1200329"/>
          </a:xfrm>
          <a:prstGeom prst="rect">
            <a:avLst/>
          </a:prstGeom>
          <a:noFill/>
        </p:spPr>
        <p:txBody>
          <a:bodyPr wrap="square" rtlCol="0">
            <a:spAutoFit/>
          </a:bodyPr>
          <a:lstStyle/>
          <a:p>
            <a:pPr algn="ctr"/>
            <a:r>
              <a:rPr lang="en-US" sz="7200" b="1" dirty="0">
                <a:solidFill>
                  <a:srgbClr val="46B0FA"/>
                </a:solidFill>
                <a:latin typeface="Arial" panose="020B0604020202020204" pitchFamily="34" charset="0"/>
                <a:cs typeface="Arial" panose="020B0604020202020204" pitchFamily="34" charset="0"/>
              </a:rPr>
              <a:t>Thank You</a:t>
            </a:r>
            <a:endParaRPr lang="en-IN" sz="7200" b="1" dirty="0">
              <a:solidFill>
                <a:srgbClr val="46B0FA"/>
              </a:solidFill>
              <a:latin typeface="Arial" panose="020B060402020202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B7FBB1AB-6227-0A49-9677-D759BB97E908}"/>
              </a:ext>
            </a:extLst>
          </p:cNvPr>
          <p:cNvSpPr/>
          <p:nvPr/>
        </p:nvSpPr>
        <p:spPr>
          <a:xfrm>
            <a:off x="10668000" y="150471"/>
            <a:ext cx="1381246" cy="6829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descr="A picture containing text, clipart&#10;&#10;Description automatically generated">
            <a:extLst>
              <a:ext uri="{FF2B5EF4-FFF2-40B4-BE49-F238E27FC236}">
                <a16:creationId xmlns:a16="http://schemas.microsoft.com/office/drawing/2014/main" id="{B3B91EF5-66BF-4A12-80C1-98869846E0D6}"/>
              </a:ext>
            </a:extLst>
          </p:cNvPr>
          <p:cNvPicPr>
            <a:picLocks noChangeAspect="1"/>
          </p:cNvPicPr>
          <p:nvPr/>
        </p:nvPicPr>
        <p:blipFill>
          <a:blip r:embed="rId2"/>
          <a:stretch>
            <a:fillRect/>
          </a:stretch>
        </p:blipFill>
        <p:spPr>
          <a:xfrm>
            <a:off x="3992880" y="1709987"/>
            <a:ext cx="4206240" cy="1806854"/>
          </a:xfrm>
          <a:prstGeom prst="rect">
            <a:avLst/>
          </a:prstGeom>
        </p:spPr>
      </p:pic>
    </p:spTree>
    <p:extLst>
      <p:ext uri="{BB962C8B-B14F-4D97-AF65-F5344CB8AC3E}">
        <p14:creationId xmlns:p14="http://schemas.microsoft.com/office/powerpoint/2010/main" val="35793482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12605</TotalTime>
  <Words>603</Words>
  <Application>Microsoft Office PowerPoint</Application>
  <PresentationFormat>Widescreen</PresentationFormat>
  <Paragraphs>68</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Stuti Gandhi</dc:creator>
  <cp:lastModifiedBy>Anshuman Agarwal</cp:lastModifiedBy>
  <cp:revision>587</cp:revision>
  <dcterms:created xsi:type="dcterms:W3CDTF">2021-05-06T09:42:21Z</dcterms:created>
  <dcterms:modified xsi:type="dcterms:W3CDTF">2026-03-11T07:20:05Z</dcterms:modified>
</cp:coreProperties>
</file>